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69" r:id="rId7"/>
    <p:sldId id="270" r:id="rId8"/>
    <p:sldId id="271" r:id="rId9"/>
    <p:sldId id="272" r:id="rId10"/>
    <p:sldId id="273" r:id="rId11"/>
    <p:sldId id="274" r:id="rId12"/>
    <p:sldId id="275" r:id="rId13"/>
    <p:sldId id="277" r:id="rId14"/>
    <p:sldId id="276"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68"/>
  </p:normalViewPr>
  <p:slideViewPr>
    <p:cSldViewPr snapToGrid="0">
      <p:cViewPr varScale="1">
        <p:scale>
          <a:sx n="70" d="100"/>
          <a:sy n="70" d="100"/>
        </p:scale>
        <p:origin x="1112"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4</a:t>
            </a:fld>
            <a:endParaRPr lang="en-US"/>
          </a:p>
        </p:txBody>
      </p:sp>
    </p:spTree>
    <p:extLst>
      <p:ext uri="{BB962C8B-B14F-4D97-AF65-F5344CB8AC3E}">
        <p14:creationId xmlns:p14="http://schemas.microsoft.com/office/powerpoint/2010/main" val="2644103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US" sz="3200" b="0" strike="noStrike" spc="-1" dirty="0">
                <a:solidFill>
                  <a:srgbClr val="000000"/>
                </a:solidFill>
                <a:latin typeface="Times New Roman" panose="02020603050405020304" pitchFamily="18" charset="0"/>
                <a:ea typeface="MS PGothic"/>
                <a:cs typeface="Times New Roman" panose="02020603050405020304" pitchFamily="18" charset="0"/>
              </a:rPr>
              <a:t>Impact of Content Recommendation Systems </a:t>
            </a:r>
          </a:p>
          <a:p>
            <a:pPr algn="ctr">
              <a:spcBef>
                <a:spcPts val="400"/>
              </a:spcBef>
            </a:pPr>
            <a:r>
              <a:rPr lang="en-US" sz="3200" b="0" strike="noStrike" spc="-1" dirty="0">
                <a:solidFill>
                  <a:srgbClr val="000000"/>
                </a:solidFill>
                <a:latin typeface="Times New Roman" panose="02020603050405020304" pitchFamily="18" charset="0"/>
                <a:ea typeface="MS PGothic"/>
                <a:cs typeface="Times New Roman" panose="02020603050405020304" pitchFamily="18" charset="0"/>
              </a:rPr>
              <a:t>on User Polarization</a:t>
            </a:r>
          </a:p>
          <a:p>
            <a:pPr algn="ctr">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Harshdeep Singh - 2210991630</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Sarthak Malan - 2210992262</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Shivam Dubey - 2210992308</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cs typeface="Times New Roman" panose="02020603050405020304" pitchFamily="18" charset="0"/>
              </a:rPr>
              <a:t>Dr. Shikha Tuteja, Associate Professor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641"/>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03412" y="0"/>
            <a:ext cx="6019560" cy="837720"/>
          </a:xfrm>
          <a:prstGeom prst="rect">
            <a:avLst/>
          </a:prstGeom>
          <a:noFill/>
          <a:ln w="9360">
            <a:noFill/>
          </a:ln>
        </p:spPr>
        <p:txBody>
          <a:bodyPr anchor="ctr">
            <a:noAutofit/>
          </a:bodyPr>
          <a:lstStyle/>
          <a:p>
            <a:pPr>
              <a:lnSpc>
                <a:spcPct val="100000"/>
              </a:lnSpc>
            </a:pPr>
            <a:r>
              <a:rPr lang="en" sz="4400" b="0" strike="noStrike" spc="-1" dirty="0">
                <a:solidFill>
                  <a:srgbClr val="000000"/>
                </a:solidFill>
                <a:latin typeface="Times New Roman" panose="02020603050405020304" pitchFamily="18" charset="0"/>
                <a:cs typeface="Times New Roman" panose="02020603050405020304" pitchFamily="18" charset="0"/>
              </a:rPr>
              <a:t>Abstract</a:t>
            </a:r>
            <a:endParaRPr lang="en-US" sz="4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5" name="TextShape 2"/>
          <p:cNvSpPr txBox="1"/>
          <p:nvPr/>
        </p:nvSpPr>
        <p:spPr>
          <a:xfrm>
            <a:off x="141272" y="1313037"/>
            <a:ext cx="8838720" cy="4031873"/>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139700" lvl="0">
              <a:buClr>
                <a:srgbClr val="000000"/>
              </a:buClr>
              <a:buSzPts val="1400"/>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139700" lvl="0">
              <a:buClr>
                <a:srgbClr val="000000"/>
              </a:buClr>
              <a:buSzPts val="1400"/>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
        <p:nvSpPr>
          <p:cNvPr id="3" name="Rectangle 2">
            <a:extLst>
              <a:ext uri="{FF2B5EF4-FFF2-40B4-BE49-F238E27FC236}">
                <a16:creationId xmlns:a16="http://schemas.microsoft.com/office/drawing/2014/main" id="{0E83B0EE-1B45-7F76-8ABC-5C607EB10C3A}"/>
              </a:ext>
            </a:extLst>
          </p:cNvPr>
          <p:cNvSpPr>
            <a:spLocks noChangeArrowheads="1"/>
          </p:cNvSpPr>
          <p:nvPr/>
        </p:nvSpPr>
        <p:spPr bwMode="auto">
          <a:xfrm>
            <a:off x="164008" y="1119898"/>
            <a:ext cx="883872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tabLst/>
            </a:pPr>
            <a:endParaRPr lang="en-US" altLang="en-US" sz="16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media platforms use recommendation systems to personalize user feeds. </a:t>
            </a: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Recommendation algorithms analyze likes, comments, shares, and watch history. </a:t>
            </a: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Engagement-based recommendations improve user retention but may create echo chambers.</a:t>
            </a: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study analyzes Reddit and Twitter data using NLP and sentiment analysis. </a:t>
            </a:r>
          </a:p>
          <a:p>
            <a:pPr marL="0" marR="0" lvl="0" indent="0" algn="just" defTabSz="914400" rtl="0" eaLnBrk="0" fontAlgn="base" latinLnBrk="0" hangingPunct="0">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Two recommendation approaches were compared: </a:t>
            </a:r>
          </a:p>
          <a:p>
            <a:pPr marL="457200" marR="0" lvl="0" indent="-457200" algn="just" defTabSz="914400" rtl="0" eaLnBrk="0" fontAlgn="base" latinLnBrk="0" hangingPunct="0">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Engagement-based </a:t>
            </a:r>
          </a:p>
          <a:p>
            <a:pPr marL="457200" marR="0" lvl="0" indent="-457200" algn="just" defTabSz="914400" rtl="0" eaLnBrk="0" fontAlgn="base" latinLnBrk="0" hangingPunct="0">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Diversity-based </a:t>
            </a:r>
          </a:p>
          <a:p>
            <a:pPr marR="0" lvl="0" algn="just" defTabSz="914400" rtl="0" eaLnBrk="0" fontAlgn="base" latinLnBrk="0" hangingPunct="0">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Results show diversity-aware systems reduce user polarization and promote balanced viewpoints.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7699-AED7-3C24-E357-5C45CBA6B4AA}"/>
              </a:ext>
            </a:extLst>
          </p:cNvPr>
          <p:cNvSpPr>
            <a:spLocks noGrp="1"/>
          </p:cNvSpPr>
          <p:nvPr>
            <p:ph type="title"/>
          </p:nvPr>
        </p:nvSpPr>
        <p:spPr>
          <a:xfrm>
            <a:off x="182880" y="0"/>
            <a:ext cx="5486040" cy="914040"/>
          </a:xfrm>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Subtitle 2">
            <a:extLst>
              <a:ext uri="{FF2B5EF4-FFF2-40B4-BE49-F238E27FC236}">
                <a16:creationId xmlns:a16="http://schemas.microsoft.com/office/drawing/2014/main" id="{3A727D39-7C22-039C-1E24-F47C4B6267A5}"/>
              </a:ext>
            </a:extLst>
          </p:cNvPr>
          <p:cNvSpPr>
            <a:spLocks noGrp="1"/>
          </p:cNvSpPr>
          <p:nvPr>
            <p:ph type="subTitle"/>
          </p:nvPr>
        </p:nvSpPr>
        <p:spPr>
          <a:xfrm>
            <a:off x="278444" y="1572768"/>
            <a:ext cx="8587112" cy="2505455"/>
          </a:xfrm>
        </p:spPr>
        <p:txBody>
          <a:bodyPr/>
          <a:lstStyle/>
          <a:p>
            <a:pPr algn="just"/>
            <a:r>
              <a:rPr lang="en-IN" sz="2000" dirty="0">
                <a:latin typeface="Times New Roman" panose="02020603050405020304" pitchFamily="18" charset="0"/>
                <a:cs typeface="Times New Roman" panose="02020603050405020304" pitchFamily="18" charset="0"/>
              </a:rPr>
              <a:t>Social media platforms like YouTube, Instagram, Twitter, and Reddit use recommendation systems to personalize user feeds.  Algorithms analyse user activities such as likes, comments, shares, and watch history.  Personalized recommendations improve user engagement and platform retention.  Engagement-based systems mostly recommend content similar to user interests. Recommendation systems strongly influence user opinions and online interactions. </a:t>
            </a:r>
            <a:r>
              <a:rPr lang="en-US" sz="2000" dirty="0">
                <a:latin typeface="Times New Roman" panose="02020603050405020304" pitchFamily="18" charset="0"/>
                <a:cs typeface="Times New Roman" panose="02020603050405020304" pitchFamily="18" charset="0"/>
              </a:rPr>
              <a:t>Users that are repeatedly exposed to similar viewpoints and opinions, which may gradually strengthen existing beliefs and reduce exposure to alternative perspectives. This phenomenon often leads to the formation of echo chambers.</a:t>
            </a:r>
          </a:p>
          <a:p>
            <a:pPr algn="just"/>
            <a:r>
              <a:rPr lang="en-US" sz="2000" dirty="0">
                <a:latin typeface="Times New Roman" panose="02020603050405020304" pitchFamily="18" charset="0"/>
                <a:cs typeface="Times New Roman" panose="02020603050405020304" pitchFamily="18" charset="0"/>
              </a:rPr>
              <a:t>This project focuses on analyzing the impact of different recommendation strategies on user polarization.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9080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3B7AA-B337-99A7-46CB-9E37A3DA9D02}"/>
              </a:ext>
            </a:extLst>
          </p:cNvPr>
          <p:cNvSpPr>
            <a:spLocks noGrp="1"/>
          </p:cNvSpPr>
          <p:nvPr>
            <p:ph type="title"/>
          </p:nvPr>
        </p:nvSpPr>
        <p:spPr>
          <a:xfrm>
            <a:off x="161365" y="0"/>
            <a:ext cx="5486040" cy="914040"/>
          </a:xfrm>
        </p:spPr>
        <p:txBody>
          <a:bodyPr/>
          <a:lstStyle/>
          <a:p>
            <a:r>
              <a:rPr lang="en-US" dirty="0">
                <a:latin typeface="Times New Roman" panose="02020603050405020304" pitchFamily="18" charset="0"/>
                <a:cs typeface="Times New Roman" panose="02020603050405020304" pitchFamily="18" charset="0"/>
              </a:rPr>
              <a:t>Objectives &amp; Scope</a:t>
            </a:r>
          </a:p>
        </p:txBody>
      </p:sp>
      <p:sp>
        <p:nvSpPr>
          <p:cNvPr id="3" name="Subtitle 2">
            <a:extLst>
              <a:ext uri="{FF2B5EF4-FFF2-40B4-BE49-F238E27FC236}">
                <a16:creationId xmlns:a16="http://schemas.microsoft.com/office/drawing/2014/main" id="{8B2F2A1B-2EF7-3B3D-95AB-D8054152A78E}"/>
              </a:ext>
            </a:extLst>
          </p:cNvPr>
          <p:cNvSpPr>
            <a:spLocks noGrp="1"/>
          </p:cNvSpPr>
          <p:nvPr>
            <p:ph type="subTitle"/>
          </p:nvPr>
        </p:nvSpPr>
        <p:spPr>
          <a:xfrm>
            <a:off x="236130" y="978408"/>
            <a:ext cx="8671739" cy="3952359"/>
          </a:xfrm>
        </p:spPr>
        <p:txBody>
          <a:bodyPr/>
          <a:lstStyle/>
          <a:p>
            <a:pPr marL="0" indent="0" algn="just">
              <a:buNone/>
            </a:pPr>
            <a:r>
              <a:rPr lang="en-IN" sz="2000" b="1" dirty="0">
                <a:latin typeface="Times New Roman" panose="02020603050405020304" pitchFamily="18" charset="0"/>
                <a:cs typeface="Times New Roman" panose="02020603050405020304" pitchFamily="18" charset="0"/>
              </a:rPr>
              <a:t>Objectives</a:t>
            </a:r>
          </a:p>
          <a:p>
            <a:pPr algn="just"/>
            <a:r>
              <a:rPr lang="en-IN" sz="2000" dirty="0">
                <a:latin typeface="Times New Roman" panose="02020603050405020304" pitchFamily="18" charset="0"/>
                <a:cs typeface="Times New Roman" panose="02020603050405020304" pitchFamily="18" charset="0"/>
              </a:rPr>
              <a:t>Study the impact of recommendation systems on user polarization. </a:t>
            </a:r>
          </a:p>
          <a:p>
            <a:pPr algn="just"/>
            <a:r>
              <a:rPr lang="en-IN" sz="2000" dirty="0">
                <a:latin typeface="Times New Roman" panose="02020603050405020304" pitchFamily="18" charset="0"/>
                <a:cs typeface="Times New Roman" panose="02020603050405020304" pitchFamily="18" charset="0"/>
              </a:rPr>
              <a:t>Perform sentiment analysis on social media content. </a:t>
            </a:r>
          </a:p>
          <a:p>
            <a:pPr algn="just"/>
            <a:r>
              <a:rPr lang="en-IN" sz="2000" dirty="0">
                <a:latin typeface="Times New Roman" panose="02020603050405020304" pitchFamily="18" charset="0"/>
                <a:cs typeface="Times New Roman" panose="02020603050405020304" pitchFamily="18" charset="0"/>
              </a:rPr>
              <a:t>Compare engagement-based and diversity-based recommendation systems. </a:t>
            </a:r>
          </a:p>
          <a:p>
            <a:pPr algn="just"/>
            <a:r>
              <a:rPr lang="en-IN" sz="2000" dirty="0">
                <a:latin typeface="Times New Roman" panose="02020603050405020304" pitchFamily="18" charset="0"/>
                <a:cs typeface="Times New Roman" panose="02020603050405020304" pitchFamily="18" charset="0"/>
              </a:rPr>
              <a:t>Measure polarization using statistical metrics. </a:t>
            </a:r>
          </a:p>
          <a:p>
            <a:pPr algn="just"/>
            <a:endParaRPr lang="en-IN" sz="2000" dirty="0">
              <a:latin typeface="Times New Roman" panose="02020603050405020304" pitchFamily="18" charset="0"/>
              <a:cs typeface="Times New Roman" panose="02020603050405020304" pitchFamily="18" charset="0"/>
            </a:endParaRPr>
          </a:p>
          <a:p>
            <a:pPr marL="0" indent="0" algn="just">
              <a:buNone/>
            </a:pPr>
            <a:r>
              <a:rPr lang="en-IN" sz="2000" b="1" dirty="0">
                <a:latin typeface="Times New Roman" panose="02020603050405020304" pitchFamily="18" charset="0"/>
                <a:cs typeface="Times New Roman" panose="02020603050405020304" pitchFamily="18" charset="0"/>
              </a:rPr>
              <a:t>Scope</a:t>
            </a:r>
          </a:p>
          <a:p>
            <a:pPr algn="just"/>
            <a:r>
              <a:rPr lang="en-IN" sz="2000" dirty="0">
                <a:latin typeface="Times New Roman" panose="02020603050405020304" pitchFamily="18" charset="0"/>
                <a:cs typeface="Times New Roman" panose="02020603050405020304" pitchFamily="18" charset="0"/>
              </a:rPr>
              <a:t>Analysis of Reddit and Twitter datasets. </a:t>
            </a:r>
          </a:p>
          <a:p>
            <a:pPr algn="just"/>
            <a:r>
              <a:rPr lang="en-IN" sz="2000" dirty="0">
                <a:latin typeface="Times New Roman" panose="02020603050405020304" pitchFamily="18" charset="0"/>
                <a:cs typeface="Times New Roman" panose="02020603050405020304" pitchFamily="18" charset="0"/>
              </a:rPr>
              <a:t>Evaluation of user opinions and recommendation behaviour. </a:t>
            </a:r>
          </a:p>
          <a:p>
            <a:pPr algn="just"/>
            <a:r>
              <a:rPr lang="en-IN" sz="2000" dirty="0">
                <a:latin typeface="Times New Roman" panose="02020603050405020304" pitchFamily="18" charset="0"/>
                <a:cs typeface="Times New Roman" panose="02020603050405020304" pitchFamily="18" charset="0"/>
              </a:rPr>
              <a:t>Study of echo chambers and information diversity.</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5208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0A80C-6FBD-FC05-F18F-3C2DDD8CF753}"/>
              </a:ext>
            </a:extLst>
          </p:cNvPr>
          <p:cNvSpPr>
            <a:spLocks noGrp="1"/>
          </p:cNvSpPr>
          <p:nvPr>
            <p:ph type="title"/>
          </p:nvPr>
        </p:nvSpPr>
        <p:spPr>
          <a:xfrm>
            <a:off x="182905" y="0"/>
            <a:ext cx="5028840" cy="914040"/>
          </a:xfrm>
        </p:spPr>
        <p:txBody>
          <a:bodyPr/>
          <a:lstStyle/>
          <a:p>
            <a:pPr algn="just"/>
            <a:r>
              <a:rPr lang="en-US" sz="5400" dirty="0">
                <a:latin typeface="Times New Roman" panose="02020603050405020304" pitchFamily="18" charset="0"/>
                <a:cs typeface="Times New Roman" panose="02020603050405020304" pitchFamily="18" charset="0"/>
              </a:rPr>
              <a:t>Methodology</a:t>
            </a:r>
          </a:p>
        </p:txBody>
      </p:sp>
      <p:sp>
        <p:nvSpPr>
          <p:cNvPr id="4" name="Rectangle 1">
            <a:extLst>
              <a:ext uri="{FF2B5EF4-FFF2-40B4-BE49-F238E27FC236}">
                <a16:creationId xmlns:a16="http://schemas.microsoft.com/office/drawing/2014/main" id="{5CF28CE9-A7B2-AE1D-22B1-B2204CE6D863}"/>
              </a:ext>
            </a:extLst>
          </p:cNvPr>
          <p:cNvSpPr>
            <a:spLocks noGrp="1" noChangeArrowheads="1"/>
          </p:cNvSpPr>
          <p:nvPr>
            <p:ph type="subTitle"/>
          </p:nvPr>
        </p:nvSpPr>
        <p:spPr bwMode="auto">
          <a:xfrm>
            <a:off x="150888" y="1371862"/>
            <a:ext cx="884222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000" dirty="0">
                <a:latin typeface="Times New Roman" panose="02020603050405020304" pitchFamily="18" charset="0"/>
                <a:cs typeface="Times New Roman" panose="02020603050405020304" pitchFamily="18" charset="0"/>
              </a:rPr>
              <a:t>Collected social media datasets from Reddit, Twitter, and Kaggle.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Cleaned and pre-processed the data by removing missing values, URLs, and unwanted symbols.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Applied NLP techniques such as tokenization and stop-word removal.</a:t>
            </a:r>
          </a:p>
          <a:p>
            <a:pPr algn="just"/>
            <a:r>
              <a:rPr lang="en-IN" sz="2000" dirty="0">
                <a:latin typeface="Times New Roman" panose="02020603050405020304" pitchFamily="18" charset="0"/>
                <a:cs typeface="Times New Roman" panose="02020603050405020304" pitchFamily="18" charset="0"/>
              </a:rPr>
              <a:t> </a:t>
            </a:r>
          </a:p>
          <a:p>
            <a:pPr algn="just"/>
            <a:r>
              <a:rPr lang="en-IN" sz="2000" dirty="0">
                <a:latin typeface="Times New Roman" panose="02020603050405020304" pitchFamily="18" charset="0"/>
                <a:cs typeface="Times New Roman" panose="02020603050405020304" pitchFamily="18" charset="0"/>
              </a:rPr>
              <a:t>Performed sentiment analysis to classify posts as positive, negative, or neutral.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Simulated engagement-based and diversity-based recommendation systems.</a:t>
            </a:r>
          </a:p>
          <a:p>
            <a:pPr algn="just"/>
            <a:r>
              <a:rPr lang="en-IN" sz="2000" dirty="0">
                <a:latin typeface="Times New Roman" panose="02020603050405020304" pitchFamily="18" charset="0"/>
                <a:cs typeface="Times New Roman" panose="02020603050405020304" pitchFamily="18" charset="0"/>
              </a:rPr>
              <a:t> </a:t>
            </a:r>
          </a:p>
          <a:p>
            <a:pPr algn="just"/>
            <a:r>
              <a:rPr lang="en-IN" sz="2000" dirty="0">
                <a:latin typeface="Times New Roman" panose="02020603050405020304" pitchFamily="18" charset="0"/>
                <a:cs typeface="Times New Roman" panose="02020603050405020304" pitchFamily="18" charset="0"/>
              </a:rPr>
              <a:t>Evaluated user polarization using sentiment variance and average sentiment metrics. </a:t>
            </a:r>
          </a:p>
        </p:txBody>
      </p:sp>
    </p:spTree>
    <p:extLst>
      <p:ext uri="{BB962C8B-B14F-4D97-AF65-F5344CB8AC3E}">
        <p14:creationId xmlns:p14="http://schemas.microsoft.com/office/powerpoint/2010/main" val="2428543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4F6D5-F1E2-F635-2742-BA6F71C16B9E}"/>
              </a:ext>
            </a:extLst>
          </p:cNvPr>
          <p:cNvSpPr>
            <a:spLocks noGrp="1"/>
          </p:cNvSpPr>
          <p:nvPr>
            <p:ph type="title"/>
          </p:nvPr>
        </p:nvSpPr>
        <p:spPr>
          <a:xfrm>
            <a:off x="118334" y="0"/>
            <a:ext cx="5486040" cy="914040"/>
          </a:xfrm>
        </p:spPr>
        <p:txBody>
          <a:bodyPr/>
          <a:lstStyle/>
          <a:p>
            <a:r>
              <a:rPr lang="en-US" dirty="0">
                <a:latin typeface="Times New Roman" panose="02020603050405020304" pitchFamily="18" charset="0"/>
                <a:cs typeface="Times New Roman" panose="02020603050405020304" pitchFamily="18" charset="0"/>
              </a:rPr>
              <a:t>Tools &amp; Technology</a:t>
            </a:r>
          </a:p>
        </p:txBody>
      </p:sp>
      <p:sp>
        <p:nvSpPr>
          <p:cNvPr id="3" name="Subtitle 2">
            <a:extLst>
              <a:ext uri="{FF2B5EF4-FFF2-40B4-BE49-F238E27FC236}">
                <a16:creationId xmlns:a16="http://schemas.microsoft.com/office/drawing/2014/main" id="{149C8AAE-F374-9446-D269-FE2A2A1EA941}"/>
              </a:ext>
            </a:extLst>
          </p:cNvPr>
          <p:cNvSpPr>
            <a:spLocks noGrp="1"/>
          </p:cNvSpPr>
          <p:nvPr>
            <p:ph type="subTitle"/>
          </p:nvPr>
        </p:nvSpPr>
        <p:spPr>
          <a:xfrm>
            <a:off x="271810" y="1613916"/>
            <a:ext cx="8600379" cy="3831335"/>
          </a:xfrm>
        </p:spPr>
        <p:txBody>
          <a:bodyPr/>
          <a:lstStyle/>
          <a:p>
            <a:pPr algn="just"/>
            <a:r>
              <a:rPr lang="en-IN" sz="2000" dirty="0">
                <a:latin typeface="Times New Roman" panose="02020603050405020304" pitchFamily="18" charset="0"/>
                <a:cs typeface="Times New Roman" panose="02020603050405020304" pitchFamily="18" charset="0"/>
              </a:rPr>
              <a:t>Python programming language was used for implementing the complete project and performing data analysis.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Pandas and NumPy libraries were used for data preprocessing, cleaning, and handling large datasets.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Matplotlib was used to create graphs and visualize sentiment variance and recommendation model comparisons.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NLP techniques and sentiment analysis libraries were applied to process text data and classify user opinions.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VS Code and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 were used as the development environment for coding, testing, and analysis.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project involved concepts such as Natural Language Processing, Recommendation Systems, Sentiment Analysis, and Statistical Evaluation. </a:t>
            </a:r>
          </a:p>
        </p:txBody>
      </p:sp>
    </p:spTree>
    <p:extLst>
      <p:ext uri="{BB962C8B-B14F-4D97-AF65-F5344CB8AC3E}">
        <p14:creationId xmlns:p14="http://schemas.microsoft.com/office/powerpoint/2010/main" val="1150314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0398C-680B-D44E-0050-02B330087203}"/>
              </a:ext>
            </a:extLst>
          </p:cNvPr>
          <p:cNvSpPr>
            <a:spLocks noGrp="1"/>
          </p:cNvSpPr>
          <p:nvPr>
            <p:ph type="title"/>
          </p:nvPr>
        </p:nvSpPr>
        <p:spPr>
          <a:xfrm>
            <a:off x="129091" y="0"/>
            <a:ext cx="5486040" cy="914040"/>
          </a:xfrm>
        </p:spPr>
        <p:txBody>
          <a:bodyPr/>
          <a:lstStyle/>
          <a:p>
            <a:r>
              <a:rPr lang="en-US" dirty="0">
                <a:latin typeface="Times New Roman" panose="02020603050405020304" pitchFamily="18" charset="0"/>
                <a:cs typeface="Times New Roman" panose="02020603050405020304" pitchFamily="18" charset="0"/>
              </a:rPr>
              <a:t>Implementation</a:t>
            </a:r>
          </a:p>
        </p:txBody>
      </p:sp>
      <p:sp>
        <p:nvSpPr>
          <p:cNvPr id="3" name="Subtitle 2">
            <a:extLst>
              <a:ext uri="{FF2B5EF4-FFF2-40B4-BE49-F238E27FC236}">
                <a16:creationId xmlns:a16="http://schemas.microsoft.com/office/drawing/2014/main" id="{3E661824-BEBA-F9B4-1A9F-7A7879E92830}"/>
              </a:ext>
            </a:extLst>
          </p:cNvPr>
          <p:cNvSpPr>
            <a:spLocks noGrp="1"/>
          </p:cNvSpPr>
          <p:nvPr>
            <p:ph type="subTitle"/>
          </p:nvPr>
        </p:nvSpPr>
        <p:spPr>
          <a:xfrm>
            <a:off x="310897" y="1812663"/>
            <a:ext cx="7661506" cy="3232673"/>
          </a:xfrm>
        </p:spPr>
        <p:txBody>
          <a:bodyPr/>
          <a:lstStyle/>
          <a:p>
            <a:pPr algn="just">
              <a:lnSpc>
                <a:spcPct val="100000"/>
              </a:lnSpc>
            </a:pPr>
            <a:r>
              <a:rPr lang="en-IN" sz="2000" dirty="0">
                <a:latin typeface="Times New Roman" panose="02020603050405020304" pitchFamily="18" charset="0"/>
                <a:cs typeface="Times New Roman" panose="02020603050405020304" pitchFamily="18" charset="0"/>
              </a:rPr>
              <a:t>Implemented using Python programming language.</a:t>
            </a:r>
          </a:p>
          <a:p>
            <a:pPr algn="just">
              <a:lnSpc>
                <a:spcPct val="100000"/>
              </a:lnSpc>
            </a:pPr>
            <a:r>
              <a:rPr lang="en-IN" sz="2000" dirty="0">
                <a:latin typeface="Times New Roman" panose="02020603050405020304" pitchFamily="18" charset="0"/>
                <a:cs typeface="Times New Roman" panose="02020603050405020304" pitchFamily="18" charset="0"/>
              </a:rPr>
              <a:t> </a:t>
            </a:r>
          </a:p>
          <a:p>
            <a:pPr algn="just">
              <a:lnSpc>
                <a:spcPct val="100000"/>
              </a:lnSpc>
            </a:pPr>
            <a:r>
              <a:rPr lang="en-IN" sz="2000" dirty="0">
                <a:latin typeface="Times New Roman" panose="02020603050405020304" pitchFamily="18" charset="0"/>
                <a:cs typeface="Times New Roman" panose="02020603050405020304" pitchFamily="18" charset="0"/>
              </a:rPr>
              <a:t>Pre-processed social media datasets for analysis. </a:t>
            </a:r>
          </a:p>
          <a:p>
            <a:pPr algn="just">
              <a:lnSpc>
                <a:spcPct val="100000"/>
              </a:lnSpc>
            </a:pPr>
            <a:endParaRPr lang="en-IN" sz="2000" dirty="0">
              <a:latin typeface="Times New Roman" panose="02020603050405020304" pitchFamily="18" charset="0"/>
              <a:cs typeface="Times New Roman" panose="02020603050405020304" pitchFamily="18" charset="0"/>
            </a:endParaRPr>
          </a:p>
          <a:p>
            <a:pPr algn="just">
              <a:lnSpc>
                <a:spcPct val="100000"/>
              </a:lnSpc>
            </a:pPr>
            <a:r>
              <a:rPr lang="en-IN" sz="2000" dirty="0">
                <a:latin typeface="Times New Roman" panose="02020603050405020304" pitchFamily="18" charset="0"/>
                <a:cs typeface="Times New Roman" panose="02020603050405020304" pitchFamily="18" charset="0"/>
              </a:rPr>
              <a:t>Applied NLP techniques for text cleaning and sentiment analysis. </a:t>
            </a:r>
          </a:p>
          <a:p>
            <a:pPr algn="just">
              <a:lnSpc>
                <a:spcPct val="100000"/>
              </a:lnSpc>
            </a:pPr>
            <a:r>
              <a:rPr lang="en-IN" sz="2000" dirty="0">
                <a:latin typeface="Times New Roman" panose="02020603050405020304" pitchFamily="18" charset="0"/>
                <a:cs typeface="Times New Roman" panose="02020603050405020304" pitchFamily="18" charset="0"/>
              </a:rPr>
              <a:t>Simulated: </a:t>
            </a:r>
          </a:p>
          <a:p>
            <a:pPr marL="457200" lvl="1" indent="-457200" algn="just">
              <a:lnSpc>
                <a:spcPct val="100000"/>
              </a:lnSpc>
              <a:buFont typeface="+mj-lt"/>
              <a:buAutoNum type="arabicPeriod"/>
            </a:pPr>
            <a:r>
              <a:rPr lang="en-IN" sz="2000" dirty="0">
                <a:latin typeface="Times New Roman" panose="02020603050405020304" pitchFamily="18" charset="0"/>
                <a:cs typeface="Times New Roman" panose="02020603050405020304" pitchFamily="18" charset="0"/>
              </a:rPr>
              <a:t>Engagement-based recommendation system </a:t>
            </a:r>
          </a:p>
          <a:p>
            <a:pPr marL="457200" lvl="1" indent="-457200" algn="just">
              <a:lnSpc>
                <a:spcPct val="100000"/>
              </a:lnSpc>
              <a:buFont typeface="+mj-lt"/>
              <a:buAutoNum type="arabicPeriod"/>
            </a:pPr>
            <a:r>
              <a:rPr lang="en-IN" sz="2000" dirty="0">
                <a:latin typeface="Times New Roman" panose="02020603050405020304" pitchFamily="18" charset="0"/>
                <a:cs typeface="Times New Roman" panose="02020603050405020304" pitchFamily="18" charset="0"/>
              </a:rPr>
              <a:t>Diversity-based recommendation system </a:t>
            </a:r>
          </a:p>
          <a:p>
            <a:pPr marL="457200" lvl="1" indent="-457200" algn="just">
              <a:lnSpc>
                <a:spcPct val="100000"/>
              </a:lnSpc>
              <a:buFont typeface="+mj-lt"/>
              <a:buAutoNum type="arabicPeriod"/>
            </a:pPr>
            <a:endParaRPr lang="en-IN" sz="2000" dirty="0">
              <a:latin typeface="Times New Roman" panose="02020603050405020304" pitchFamily="18" charset="0"/>
              <a:cs typeface="Times New Roman" panose="02020603050405020304" pitchFamily="18" charset="0"/>
            </a:endParaRPr>
          </a:p>
          <a:p>
            <a:pPr algn="just">
              <a:lnSpc>
                <a:spcPct val="100000"/>
              </a:lnSpc>
            </a:pPr>
            <a:r>
              <a:rPr lang="en-IN" sz="2000" dirty="0">
                <a:latin typeface="Times New Roman" panose="02020603050405020304" pitchFamily="18" charset="0"/>
                <a:cs typeface="Times New Roman" panose="02020603050405020304" pitchFamily="18" charset="0"/>
              </a:rPr>
              <a:t>Calculated sentiment variance and average sentiment. </a:t>
            </a:r>
          </a:p>
          <a:p>
            <a:pPr algn="just">
              <a:lnSpc>
                <a:spcPct val="100000"/>
              </a:lnSpc>
            </a:pPr>
            <a:endParaRPr lang="en-IN" sz="2000" dirty="0">
              <a:latin typeface="Times New Roman" panose="02020603050405020304" pitchFamily="18" charset="0"/>
              <a:cs typeface="Times New Roman" panose="02020603050405020304" pitchFamily="18" charset="0"/>
            </a:endParaRPr>
          </a:p>
          <a:p>
            <a:pPr algn="just">
              <a:lnSpc>
                <a:spcPct val="100000"/>
              </a:lnSpc>
            </a:pPr>
            <a:r>
              <a:rPr lang="en-IN" sz="2000" dirty="0">
                <a:latin typeface="Times New Roman" panose="02020603050405020304" pitchFamily="18" charset="0"/>
                <a:cs typeface="Times New Roman" panose="02020603050405020304" pitchFamily="18" charset="0"/>
              </a:rPr>
              <a:t>Generated graphs and statistical visualizations using Matplotlib. </a:t>
            </a:r>
          </a:p>
          <a:p>
            <a:pPr algn="just">
              <a:lnSpc>
                <a:spcPct val="100000"/>
              </a:lnSpc>
            </a:pPr>
            <a:endParaRPr lang="en-IN" sz="2000" dirty="0">
              <a:latin typeface="Times New Roman" panose="02020603050405020304" pitchFamily="18" charset="0"/>
              <a:cs typeface="Times New Roman" panose="02020603050405020304" pitchFamily="18" charset="0"/>
            </a:endParaRPr>
          </a:p>
          <a:p>
            <a:pPr algn="just">
              <a:lnSpc>
                <a:spcPct val="1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3734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AB424-F71F-E3EE-6AA6-DCCC7E6F1E47}"/>
              </a:ext>
            </a:extLst>
          </p:cNvPr>
          <p:cNvSpPr>
            <a:spLocks noGrp="1"/>
          </p:cNvSpPr>
          <p:nvPr>
            <p:ph type="title"/>
          </p:nvPr>
        </p:nvSpPr>
        <p:spPr>
          <a:xfrm>
            <a:off x="172122" y="0"/>
            <a:ext cx="6174889" cy="914040"/>
          </a:xfrm>
        </p:spPr>
        <p:txBody>
          <a:bodyPr/>
          <a:lstStyle/>
          <a:p>
            <a:r>
              <a:rPr lang="en-IN" dirty="0">
                <a:latin typeface="Times New Roman" panose="02020603050405020304" pitchFamily="18" charset="0"/>
                <a:cs typeface="Times New Roman" panose="02020603050405020304" pitchFamily="18" charset="0"/>
              </a:rPr>
              <a:t>Major Findings / Results</a:t>
            </a:r>
            <a:endParaRPr lang="en-US"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4559913-CA0C-22F1-2BC7-5CE30DE7480D}"/>
              </a:ext>
            </a:extLst>
          </p:cNvPr>
          <p:cNvSpPr>
            <a:spLocks noGrp="1" noChangeArrowheads="1"/>
          </p:cNvSpPr>
          <p:nvPr>
            <p:ph type="subTitle"/>
          </p:nvPr>
        </p:nvSpPr>
        <p:spPr bwMode="auto">
          <a:xfrm>
            <a:off x="172122" y="914040"/>
            <a:ext cx="8799756"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engagement-based recommendation model showed higher sentiment variance, which indicates stronger user polarization and the formation of echo chambers.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under the engagement-based system were repeatedly exposed to similar viewpoints, reinforcing their existing beliefs and reducing exposure to diverse opinions.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diversity-based recommendation model produced lower sentiment variance, showing a more balanced distribution of opinions among users.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Exposure to different types of content in the diversity-aware system helped reduce ideological isolation and encouraged open-mindedness.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analysis clearly shows that recommendation systems significantly influence user behavior, online interactions, and opinion formation on social media platforms.</a:t>
            </a:r>
          </a:p>
        </p:txBody>
      </p:sp>
    </p:spTree>
    <p:extLst>
      <p:ext uri="{BB962C8B-B14F-4D97-AF65-F5344CB8AC3E}">
        <p14:creationId xmlns:p14="http://schemas.microsoft.com/office/powerpoint/2010/main" val="2354500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0CBF9-8972-9646-902F-5287F6C69F4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7" name="Rectangle 4">
            <a:extLst>
              <a:ext uri="{FF2B5EF4-FFF2-40B4-BE49-F238E27FC236}">
                <a16:creationId xmlns:a16="http://schemas.microsoft.com/office/drawing/2014/main" id="{79AFC8BD-081D-6919-8C20-0EE3A555297F}"/>
              </a:ext>
            </a:extLst>
          </p:cNvPr>
          <p:cNvSpPr>
            <a:spLocks noGrp="1" noChangeArrowheads="1"/>
          </p:cNvSpPr>
          <p:nvPr>
            <p:ph type="subTitle"/>
          </p:nvPr>
        </p:nvSpPr>
        <p:spPr bwMode="auto">
          <a:xfrm>
            <a:off x="123713" y="914040"/>
            <a:ext cx="889657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Recommendation systems significantly influence user opinions, online interactions, and information consumption.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Engagement-based recommendation systems improve user engagement but also increase echo chambers and ideological polarization.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exposed repeatedly to similar content are more likely to develop biased and narrow viewpoints.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Diversity-aware recommendation systems expose users to multiple perspectives and help reduce polarization.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balanced recommendation strategy is necessary to maintain both user engagement and information diversity on social media platforms.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540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3355-27FF-55C3-A506-D9A53BD28A7F}"/>
              </a:ext>
            </a:extLst>
          </p:cNvPr>
          <p:cNvSpPr>
            <a:spLocks noGrp="1"/>
          </p:cNvSpPr>
          <p:nvPr>
            <p:ph type="title"/>
          </p:nvPr>
        </p:nvSpPr>
        <p:spPr/>
        <p:txBody>
          <a:bodyPr/>
          <a:lstStyle/>
          <a:p>
            <a:r>
              <a:rPr lang="en-US" sz="4000" dirty="0">
                <a:latin typeface="Times New Roman" panose="02020603050405020304" pitchFamily="18" charset="0"/>
                <a:cs typeface="Times New Roman" panose="02020603050405020304" pitchFamily="18" charset="0"/>
              </a:rPr>
              <a:t> Future Scope</a:t>
            </a:r>
          </a:p>
        </p:txBody>
      </p:sp>
      <p:sp>
        <p:nvSpPr>
          <p:cNvPr id="3" name="Subtitle 2">
            <a:extLst>
              <a:ext uri="{FF2B5EF4-FFF2-40B4-BE49-F238E27FC236}">
                <a16:creationId xmlns:a16="http://schemas.microsoft.com/office/drawing/2014/main" id="{D7E98CBE-CD39-F1A8-7930-96619FD0278E}"/>
              </a:ext>
            </a:extLst>
          </p:cNvPr>
          <p:cNvSpPr>
            <a:spLocks noGrp="1"/>
          </p:cNvSpPr>
          <p:nvPr>
            <p:ph type="subTitle"/>
          </p:nvPr>
        </p:nvSpPr>
        <p:spPr>
          <a:xfrm>
            <a:off x="336356" y="1810512"/>
            <a:ext cx="8471287" cy="3100892"/>
          </a:xfrm>
        </p:spPr>
        <p:txBody>
          <a:bodyPr/>
          <a:lstStyle/>
          <a:p>
            <a:pPr algn="just"/>
            <a:r>
              <a:rPr lang="en-IN" sz="2000" dirty="0">
                <a:latin typeface="Times New Roman" panose="02020603050405020304" pitchFamily="18" charset="0"/>
                <a:cs typeface="Times New Roman" panose="02020603050405020304" pitchFamily="18" charset="0"/>
              </a:rPr>
              <a:t>Larger and more diverse datasets can be used for better evaluation and analysis.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Advanced machine learning and deep learning models can improve recommendation accuracy.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Hybrid recommendation systems combining engagement and diversity can be developed.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Real-time recommendation simulations can be performed for more practical analysis.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Future research can focus on studying the long-term social and psychological effects of recommendation algorithms on users. </a:t>
            </a:r>
          </a:p>
          <a:p>
            <a:pPr algn="just"/>
            <a:endParaRPr lang="en-IN"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3030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D4D80-FB32-7DFE-6396-4237D26EBB3F}"/>
              </a:ext>
            </a:extLst>
          </p:cNvPr>
          <p:cNvSpPr>
            <a:spLocks noGrp="1"/>
          </p:cNvSpPr>
          <p:nvPr>
            <p:ph type="title"/>
          </p:nvPr>
        </p:nvSpPr>
        <p:spPr/>
        <p:txBody>
          <a:bodyPr/>
          <a:lstStyle/>
          <a:p>
            <a:r>
              <a:rPr lang="en-US" dirty="0"/>
              <a:t> References</a:t>
            </a:r>
          </a:p>
        </p:txBody>
      </p:sp>
      <p:sp>
        <p:nvSpPr>
          <p:cNvPr id="4" name="Rectangle 1">
            <a:extLst>
              <a:ext uri="{FF2B5EF4-FFF2-40B4-BE49-F238E27FC236}">
                <a16:creationId xmlns:a16="http://schemas.microsoft.com/office/drawing/2014/main" id="{672E140B-2388-D028-2360-5FB19C0CCCE0}"/>
              </a:ext>
            </a:extLst>
          </p:cNvPr>
          <p:cNvSpPr>
            <a:spLocks noGrp="1" noChangeArrowheads="1"/>
          </p:cNvSpPr>
          <p:nvPr>
            <p:ph type="subTitle"/>
          </p:nvPr>
        </p:nvSpPr>
        <p:spPr bwMode="auto">
          <a:xfrm>
            <a:off x="137160" y="1140681"/>
            <a:ext cx="8762641" cy="457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sz="1800" dirty="0">
                <a:latin typeface="Times New Roman" panose="02020603050405020304" pitchFamily="18" charset="0"/>
                <a:cs typeface="Times New Roman" panose="02020603050405020304" pitchFamily="18" charset="0"/>
              </a:rPr>
              <a:t>YouTube Recommendations,” Proceedings of the 10th ACM Conference on Recommender Systems, pp. 191–198, 2016.</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E. </a:t>
            </a:r>
            <a:r>
              <a:rPr lang="en-US" sz="1800" dirty="0" err="1">
                <a:latin typeface="Times New Roman" panose="02020603050405020304" pitchFamily="18" charset="0"/>
                <a:cs typeface="Times New Roman" panose="02020603050405020304" pitchFamily="18" charset="0"/>
              </a:rPr>
              <a:t>Bakshy</a:t>
            </a:r>
            <a:r>
              <a:rPr lang="en-US" sz="1800" dirty="0">
                <a:latin typeface="Times New Roman" panose="02020603050405020304" pitchFamily="18" charset="0"/>
                <a:cs typeface="Times New Roman" panose="02020603050405020304" pitchFamily="18" charset="0"/>
              </a:rPr>
              <a:t>, S. Messing, and L. A. Adamic, “Exposure to ideologically diverse news and opinion on Facebook,” </a:t>
            </a:r>
            <a:r>
              <a:rPr lang="en-US" sz="1800" i="1" dirty="0">
                <a:latin typeface="Times New Roman" panose="02020603050405020304" pitchFamily="18" charset="0"/>
                <a:cs typeface="Times New Roman" panose="02020603050405020304" pitchFamily="18" charset="0"/>
              </a:rPr>
              <a:t>Science</a:t>
            </a:r>
            <a:r>
              <a:rPr lang="en-US" sz="1800" dirty="0">
                <a:latin typeface="Times New Roman" panose="02020603050405020304" pitchFamily="18" charset="0"/>
                <a:cs typeface="Times New Roman" panose="02020603050405020304" pitchFamily="18" charset="0"/>
              </a:rPr>
              <a:t>, vol. 348, no. 6239,</a:t>
            </a:r>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pp. 1130–1132, 2020.</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M. Cinelli </a:t>
            </a:r>
            <a:r>
              <a:rPr lang="en-US" sz="1800" i="1" dirty="0">
                <a:latin typeface="Times New Roman" panose="02020603050405020304" pitchFamily="18" charset="0"/>
                <a:cs typeface="Times New Roman" panose="02020603050405020304" pitchFamily="18" charset="0"/>
              </a:rPr>
              <a:t>et al.</a:t>
            </a:r>
            <a:r>
              <a:rPr lang="en-US" sz="1800" dirty="0">
                <a:latin typeface="Times New Roman" panose="02020603050405020304" pitchFamily="18" charset="0"/>
                <a:cs typeface="Times New Roman" panose="02020603050405020304" pitchFamily="18" charset="0"/>
              </a:rPr>
              <a:t>, “The echo chamber effect on social media,” </a:t>
            </a:r>
            <a:r>
              <a:rPr lang="en-US" sz="1800" i="1" dirty="0">
                <a:latin typeface="Times New Roman" panose="02020603050405020304" pitchFamily="18" charset="0"/>
                <a:cs typeface="Times New Roman" panose="02020603050405020304" pitchFamily="18" charset="0"/>
              </a:rPr>
              <a:t>Proceed- </a:t>
            </a:r>
            <a:r>
              <a:rPr lang="en-US" sz="1800" i="1" dirty="0" err="1">
                <a:latin typeface="Times New Roman" panose="02020603050405020304" pitchFamily="18" charset="0"/>
                <a:cs typeface="Times New Roman" panose="02020603050405020304" pitchFamily="18" charset="0"/>
              </a:rPr>
              <a:t>ings</a:t>
            </a:r>
            <a:r>
              <a:rPr lang="en-US" sz="1800" i="1" dirty="0">
                <a:latin typeface="Times New Roman" panose="02020603050405020304" pitchFamily="18" charset="0"/>
                <a:cs typeface="Times New Roman" panose="02020603050405020304" pitchFamily="18" charset="0"/>
              </a:rPr>
              <a:t> of the National Academy of Sciences</a:t>
            </a:r>
            <a:r>
              <a:rPr lang="en-US" sz="1800" dirty="0">
                <a:latin typeface="Times New Roman" panose="02020603050405020304" pitchFamily="18" charset="0"/>
                <a:cs typeface="Times New Roman" panose="02020603050405020304" pitchFamily="18" charset="0"/>
              </a:rPr>
              <a:t>, vol. 118, no. 9, 2021.</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M. H. Ribeiro </a:t>
            </a:r>
            <a:r>
              <a:rPr lang="en-US" sz="1800" i="1" dirty="0">
                <a:latin typeface="Times New Roman" panose="02020603050405020304" pitchFamily="18" charset="0"/>
                <a:cs typeface="Times New Roman" panose="02020603050405020304" pitchFamily="18" charset="0"/>
              </a:rPr>
              <a:t>et al.</a:t>
            </a:r>
            <a:r>
              <a:rPr lang="en-US" sz="1800" dirty="0">
                <a:latin typeface="Times New Roman" panose="02020603050405020304" pitchFamily="18" charset="0"/>
                <a:cs typeface="Times New Roman" panose="02020603050405020304" pitchFamily="18" charset="0"/>
              </a:rPr>
              <a:t>, “Auditing radicalization pathways on YouTube,”</a:t>
            </a:r>
            <a:endParaRPr lang="en-IN" sz="1800" dirty="0">
              <a:latin typeface="Times New Roman" panose="02020603050405020304" pitchFamily="18" charset="0"/>
              <a:cs typeface="Times New Roman" panose="02020603050405020304" pitchFamily="18" charset="0"/>
            </a:endParaRPr>
          </a:p>
          <a:p>
            <a:r>
              <a:rPr lang="en-US" sz="1800" i="1" dirty="0">
                <a:latin typeface="Times New Roman" panose="02020603050405020304" pitchFamily="18" charset="0"/>
                <a:cs typeface="Times New Roman" panose="02020603050405020304" pitchFamily="18" charset="0"/>
              </a:rPr>
              <a:t>Proceedings of the ACM Conference</a:t>
            </a:r>
            <a:r>
              <a:rPr lang="en-US" sz="1800" dirty="0">
                <a:latin typeface="Times New Roman" panose="02020603050405020304" pitchFamily="18" charset="0"/>
                <a:cs typeface="Times New Roman" panose="02020603050405020304" pitchFamily="18" charset="0"/>
              </a:rPr>
              <a:t>, 2020.</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A. Guess, B. Nyhan, and J. Reifler, “Exposure to untrustworthy websites in the 2016 US election,” </a:t>
            </a:r>
            <a:r>
              <a:rPr lang="en-US" sz="1800" i="1" dirty="0">
                <a:latin typeface="Times New Roman" panose="02020603050405020304" pitchFamily="18" charset="0"/>
                <a:cs typeface="Times New Roman" panose="02020603050405020304" pitchFamily="18" charset="0"/>
              </a:rPr>
              <a:t>Nature Human Behavior</a:t>
            </a:r>
            <a:r>
              <a:rPr lang="en-US" sz="1800" dirty="0">
                <a:latin typeface="Times New Roman" panose="02020603050405020304" pitchFamily="18" charset="0"/>
                <a:cs typeface="Times New Roman" panose="02020603050405020304" pitchFamily="18" charset="0"/>
              </a:rPr>
              <a:t>, 2021.</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N. Helberger, K. Karppinen, and L. D’Acunto, “Exposure diversity as a design principle for recommender systems,” </a:t>
            </a:r>
            <a:r>
              <a:rPr lang="en-US" sz="1800" i="1" dirty="0">
                <a:latin typeface="Times New Roman" panose="02020603050405020304" pitchFamily="18" charset="0"/>
                <a:cs typeface="Times New Roman" panose="02020603050405020304" pitchFamily="18" charset="0"/>
              </a:rPr>
              <a:t>Information, Communication &amp; Society</a:t>
            </a:r>
            <a:r>
              <a:rPr lang="en-US" sz="1800" dirty="0">
                <a:latin typeface="Times New Roman" panose="02020603050405020304" pitchFamily="18" charset="0"/>
                <a:cs typeface="Times New Roman" panose="02020603050405020304" pitchFamily="18" charset="0"/>
              </a:rPr>
              <a:t>, 2023.</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E. Bozdag and J. van den Hoven, “Breaking the filter bubble: democracy and design,” </a:t>
            </a:r>
            <a:r>
              <a:rPr lang="en-US" sz="1800" i="1" dirty="0">
                <a:latin typeface="Times New Roman" panose="02020603050405020304" pitchFamily="18" charset="0"/>
                <a:cs typeface="Times New Roman" panose="02020603050405020304" pitchFamily="18" charset="0"/>
              </a:rPr>
              <a:t>Ethics and Information Technology</a:t>
            </a:r>
            <a:r>
              <a:rPr lang="en-US" sz="1800" dirty="0">
                <a:latin typeface="Times New Roman" panose="02020603050405020304" pitchFamily="18" charset="0"/>
                <a:cs typeface="Times New Roman" panose="02020603050405020304" pitchFamily="18" charset="0"/>
              </a:rPr>
              <a:t>, 2022.</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J. Leskovec, A. Rajaraman, and J. D. Ullman, </a:t>
            </a:r>
            <a:r>
              <a:rPr lang="en-US" sz="1800" i="1" dirty="0">
                <a:latin typeface="Times New Roman" panose="02020603050405020304" pitchFamily="18" charset="0"/>
                <a:cs typeface="Times New Roman" panose="02020603050405020304" pitchFamily="18" charset="0"/>
              </a:rPr>
              <a:t>Mining of Massive Datasets</a:t>
            </a:r>
            <a:r>
              <a:rPr lang="en-US" sz="1800" dirty="0">
                <a:latin typeface="Times New Roman" panose="02020603050405020304" pitchFamily="18" charset="0"/>
                <a:cs typeface="Times New Roman" panose="02020603050405020304" pitchFamily="18" charset="0"/>
              </a:rPr>
              <a:t>. Cambridge University Press, 2021.</a:t>
            </a:r>
            <a:endParaRPr lang="en-IN" sz="1800"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368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endParaRPr lang="en-GB" sz="1200" b="0" strike="noStrike" spc="-1" dirty="0">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Metadata/LabelInfo.xml><?xml version="1.0" encoding="utf-8"?>
<clbl:labelList xmlns:clbl="http://schemas.microsoft.com/office/2020/mipLabelMetadata">
  <clbl:label id="{f7bd1f64-4ecb-43d7-94b5-4669091ae21c}" enabled="1" method="Privileged" siteId="{72b17115-9915-42c0-9f1b-4f98e5a4bcd2}" contentBits="0" removed="0"/>
</clbl:labelList>
</file>

<file path=docProps/app.xml><?xml version="1.0" encoding="utf-8"?>
<Properties xmlns="http://schemas.openxmlformats.org/officeDocument/2006/extended-properties" xmlns:vt="http://schemas.openxmlformats.org/officeDocument/2006/docPropsVTypes">
  <Template/>
  <TotalTime>34744</TotalTime>
  <Words>1048</Words>
  <Application>Microsoft Office PowerPoint</Application>
  <PresentationFormat>On-screen Show (4:3)</PresentationFormat>
  <Paragraphs>137</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Introduction</vt:lpstr>
      <vt:lpstr>Objectives &amp; Scope</vt:lpstr>
      <vt:lpstr>Methodology</vt:lpstr>
      <vt:lpstr>Tools &amp; Technology</vt:lpstr>
      <vt:lpstr>Implementation</vt:lpstr>
      <vt:lpstr>Major Findings / Results</vt:lpstr>
      <vt:lpstr>Conclusion</vt:lpstr>
      <vt:lpstr> Future Scope</vt:lpstr>
      <vt:lpstr> 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Singh, Harshdeep</cp:lastModifiedBy>
  <cp:revision>2302</cp:revision>
  <dcterms:created xsi:type="dcterms:W3CDTF">2010-04-09T07:36:15Z</dcterms:created>
  <dcterms:modified xsi:type="dcterms:W3CDTF">2026-05-07T18:46:10Z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