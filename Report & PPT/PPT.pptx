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6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8"/>
  </p:normalViewPr>
  <p:slideViewPr>
    <p:cSldViewPr snapToGrid="0">
      <p:cViewPr varScale="1">
        <p:scale>
          <a:sx n="119" d="100"/>
          <a:sy n="119" d="100"/>
        </p:scale>
        <p:origin x="13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Impact of Content Recommendation Systems </a:t>
            </a:r>
          </a:p>
          <a:p>
            <a:pPr algn="ctr">
              <a:spcBef>
                <a:spcPts val="400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on User Polarization</a:t>
            </a:r>
          </a:p>
          <a:p>
            <a:pPr algn="ctr"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Harshdeep Singh - 2210991630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Sarthak Malan - 2210992262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Dubey - 2210992308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Shikha Tuteja, Associate Professor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03412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" sz="4400" b="0" strike="noStrike" spc="-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Abstract</a:t>
            </a:r>
            <a:endParaRPr lang="en-US" sz="4000" b="0" strike="noStrike" spc="-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83B0EE-1B45-7F76-8ABC-5C607EB10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72" y="981771"/>
            <a:ext cx="872714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platforms use recommendation systems to personalize user feeds.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algorithms analyze likes, comments, shares, and watch history.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Engagement-based recommendations improve user retention but may create echo chambers.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study analyzes Reddit and Twitter data using NLP and sentiment analysis.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recommendation approaches were compared: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Engagement-based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Diversity-based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show diversity-aware systems reduce user polarization and promote balanced viewpoints.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7699-AED7-3C24-E357-5C45CBA6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0"/>
            <a:ext cx="5486040" cy="91404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27D39-7C22-039C-1E24-F47C4B6267A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2568" y="1043491"/>
            <a:ext cx="8578864" cy="5314278"/>
          </a:xfrm>
        </p:spPr>
        <p:txBody>
          <a:bodyPr/>
          <a:lstStyle/>
          <a:p>
            <a:pPr algn="just"/>
            <a:r>
              <a:rPr lang="en-IN" sz="2400" dirty="0"/>
              <a:t>Social media platforms like YouTube, Instagram, Twitter, and Reddit use recommendation systems to personalize user feeds. </a:t>
            </a:r>
          </a:p>
          <a:p>
            <a:pPr algn="just"/>
            <a:r>
              <a:rPr lang="en-IN" sz="2400" dirty="0"/>
              <a:t>Algorithms </a:t>
            </a:r>
            <a:r>
              <a:rPr lang="en-IN" sz="2400" dirty="0" err="1"/>
              <a:t>analyze</a:t>
            </a:r>
            <a:r>
              <a:rPr lang="en-IN" sz="2400" dirty="0"/>
              <a:t> user activities such as likes, comments, shares, and watch history. </a:t>
            </a:r>
          </a:p>
          <a:p>
            <a:pPr algn="just"/>
            <a:r>
              <a:rPr lang="en-IN" sz="2400" dirty="0"/>
              <a:t>Personalized recommendations improve user engagement and platform retention. </a:t>
            </a:r>
          </a:p>
          <a:p>
            <a:pPr algn="just"/>
            <a:r>
              <a:rPr lang="en-IN" sz="2400" dirty="0"/>
              <a:t>Engagement-based systems mostly recommend content similar to user interests. </a:t>
            </a:r>
          </a:p>
          <a:p>
            <a:pPr algn="just"/>
            <a:r>
              <a:rPr lang="en-IN" sz="2400" dirty="0"/>
              <a:t>Recommendation systems strongly influence user opinions and online interactions. </a:t>
            </a:r>
          </a:p>
        </p:txBody>
      </p:sp>
    </p:spTree>
    <p:extLst>
      <p:ext uri="{BB962C8B-B14F-4D97-AF65-F5344CB8AC3E}">
        <p14:creationId xmlns:p14="http://schemas.microsoft.com/office/powerpoint/2010/main" val="2529080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B7AA-B337-99A7-46CB-9E37A3DA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5" y="0"/>
            <a:ext cx="5486040" cy="914040"/>
          </a:xfrm>
        </p:spPr>
        <p:txBody>
          <a:bodyPr/>
          <a:lstStyle/>
          <a:p>
            <a:r>
              <a:rPr lang="en-US" dirty="0"/>
              <a:t>Objectives &amp;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F2A1B-2EF7-3B3D-95AB-D8054152A78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3250" y="1065006"/>
            <a:ext cx="8417499" cy="5411097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Objectives</a:t>
            </a:r>
          </a:p>
          <a:p>
            <a:r>
              <a:rPr lang="en-IN" sz="2400" dirty="0"/>
              <a:t>Study the impact of recommendation systems on user polarization. </a:t>
            </a:r>
          </a:p>
          <a:p>
            <a:r>
              <a:rPr lang="en-IN" sz="2400" dirty="0"/>
              <a:t>Perform sentiment analysis on social media content. </a:t>
            </a:r>
          </a:p>
          <a:p>
            <a:r>
              <a:rPr lang="en-IN" sz="2400" dirty="0"/>
              <a:t>Compare engagement-based and diversity-based recommendation systems. </a:t>
            </a:r>
          </a:p>
          <a:p>
            <a:r>
              <a:rPr lang="en-IN" sz="2400" dirty="0"/>
              <a:t>Measure polarization using statistical metrics. </a:t>
            </a:r>
          </a:p>
          <a:p>
            <a:pPr marL="0" indent="0">
              <a:buNone/>
            </a:pPr>
            <a:r>
              <a:rPr lang="en-IN" sz="2400" b="1" dirty="0"/>
              <a:t>Scope</a:t>
            </a:r>
          </a:p>
          <a:p>
            <a:r>
              <a:rPr lang="en-IN" sz="2400" dirty="0"/>
              <a:t>Analysis of Reddit and Twitter datasets. </a:t>
            </a:r>
          </a:p>
          <a:p>
            <a:r>
              <a:rPr lang="en-IN" sz="2400" dirty="0"/>
              <a:t>Evaluation of user opinions and recommendation </a:t>
            </a:r>
            <a:r>
              <a:rPr lang="en-IN" sz="2400" dirty="0" err="1"/>
              <a:t>behavior</a:t>
            </a:r>
            <a:r>
              <a:rPr lang="en-IN" sz="2400" dirty="0"/>
              <a:t>. </a:t>
            </a:r>
          </a:p>
          <a:p>
            <a:r>
              <a:rPr lang="en-IN" sz="2400" dirty="0"/>
              <a:t>Study of echo chambers and information diversity.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520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A80C-6FBD-FC05-F18F-3C2DDD8C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05" y="0"/>
            <a:ext cx="5028840" cy="914040"/>
          </a:xfrm>
        </p:spPr>
        <p:txBody>
          <a:bodyPr/>
          <a:lstStyle/>
          <a:p>
            <a:pPr algn="just"/>
            <a:r>
              <a:rPr lang="en-US" sz="5400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F28CE9-A7B2-AE1D-22B1-B2204CE6D86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623956" y="1285790"/>
            <a:ext cx="7896088" cy="472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 dirty="0"/>
              <a:t>Collected social media datasets from Reddit, Twitter, and Kaggle. </a:t>
            </a:r>
          </a:p>
          <a:p>
            <a:pPr algn="just"/>
            <a:r>
              <a:rPr lang="en-IN" sz="2400" dirty="0"/>
              <a:t>Cleaned and </a:t>
            </a:r>
            <a:r>
              <a:rPr lang="en-IN" sz="2400" dirty="0" err="1"/>
              <a:t>preprocessed</a:t>
            </a:r>
            <a:r>
              <a:rPr lang="en-IN" sz="2400" dirty="0"/>
              <a:t> the data by removing missing values, URLs, and unwanted symbols. </a:t>
            </a:r>
          </a:p>
          <a:p>
            <a:pPr algn="just"/>
            <a:r>
              <a:rPr lang="en-IN" sz="2400" dirty="0"/>
              <a:t>Applied NLP techniques such as tokenization and stop-word removal. </a:t>
            </a:r>
          </a:p>
          <a:p>
            <a:pPr algn="just"/>
            <a:r>
              <a:rPr lang="en-IN" sz="2400" dirty="0"/>
              <a:t>Performed sentiment analysis to classify posts as positive, negative, or neutral. </a:t>
            </a:r>
          </a:p>
          <a:p>
            <a:pPr algn="just"/>
            <a:r>
              <a:rPr lang="en-IN" sz="2400" dirty="0"/>
              <a:t>Simulated engagement-based and diversity-based recommendation systems. </a:t>
            </a:r>
          </a:p>
          <a:p>
            <a:pPr algn="just"/>
            <a:r>
              <a:rPr lang="en-IN" sz="2400" dirty="0"/>
              <a:t>Evaluated user polarization using sentiment variance and average sentiment metrics. </a:t>
            </a:r>
          </a:p>
        </p:txBody>
      </p:sp>
    </p:spTree>
    <p:extLst>
      <p:ext uri="{BB962C8B-B14F-4D97-AF65-F5344CB8AC3E}">
        <p14:creationId xmlns:p14="http://schemas.microsoft.com/office/powerpoint/2010/main" val="242854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F6D5-F1E2-F635-2742-BA6F71C16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34" y="0"/>
            <a:ext cx="5486040" cy="914040"/>
          </a:xfrm>
        </p:spPr>
        <p:txBody>
          <a:bodyPr/>
          <a:lstStyle/>
          <a:p>
            <a:r>
              <a:rPr lang="en-US" dirty="0"/>
              <a:t>Tools &amp;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C8AAE-F374-9446-D269-FE2A2A1EA94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1810" y="1010858"/>
            <a:ext cx="8600379" cy="5572821"/>
          </a:xfrm>
        </p:spPr>
        <p:txBody>
          <a:bodyPr/>
          <a:lstStyle/>
          <a:p>
            <a:pPr algn="just"/>
            <a:r>
              <a:rPr lang="en-IN" sz="2400" dirty="0"/>
              <a:t>Python programming language was used for implementing the complete project and performing data analysis. </a:t>
            </a:r>
          </a:p>
          <a:p>
            <a:pPr algn="just"/>
            <a:r>
              <a:rPr lang="en-IN" sz="2400" dirty="0"/>
              <a:t>Pandas and NumPy libraries were used for data preprocessing, cleaning, and handling large datasets. </a:t>
            </a:r>
          </a:p>
          <a:p>
            <a:pPr algn="just"/>
            <a:r>
              <a:rPr lang="en-IN" sz="2400" dirty="0"/>
              <a:t>Matplotlib was used to create graphs and visualize sentiment variance and recommendation model comparisons. </a:t>
            </a:r>
          </a:p>
          <a:p>
            <a:pPr algn="just"/>
            <a:r>
              <a:rPr lang="en-IN" sz="2400" dirty="0"/>
              <a:t>NLP techniques and sentiment analysis libraries were applied to process text data and classify user opinions. </a:t>
            </a:r>
          </a:p>
          <a:p>
            <a:pPr algn="just"/>
            <a:r>
              <a:rPr lang="en-IN" sz="2400" dirty="0"/>
              <a:t>VS Code and </a:t>
            </a:r>
            <a:r>
              <a:rPr lang="en-IN" sz="2400" dirty="0" err="1"/>
              <a:t>Jupyter</a:t>
            </a:r>
            <a:r>
              <a:rPr lang="en-IN" sz="2400" dirty="0"/>
              <a:t> Notebook were used as the development environment for coding, testing, and analysis. </a:t>
            </a:r>
          </a:p>
          <a:p>
            <a:pPr algn="just"/>
            <a:r>
              <a:rPr lang="en-IN" sz="2400" dirty="0"/>
              <a:t>The project involved concepts such as Natural Language Processing, Recommendation Systems, Sentiment Analysis, and Statistical Evaluation. </a:t>
            </a:r>
          </a:p>
        </p:txBody>
      </p:sp>
    </p:spTree>
    <p:extLst>
      <p:ext uri="{BB962C8B-B14F-4D97-AF65-F5344CB8AC3E}">
        <p14:creationId xmlns:p14="http://schemas.microsoft.com/office/powerpoint/2010/main" val="1150314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398C-680B-D44E-0050-02B33008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1" y="0"/>
            <a:ext cx="5486040" cy="91404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61824-BEBA-F9B4-1A9F-7A7879E9283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4083" y="1000101"/>
            <a:ext cx="8535833" cy="5250092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IN" sz="2400" dirty="0"/>
              <a:t>Implemented using Python programming language. </a:t>
            </a:r>
          </a:p>
          <a:p>
            <a:pPr algn="just">
              <a:lnSpc>
                <a:spcPct val="100000"/>
              </a:lnSpc>
            </a:pPr>
            <a:r>
              <a:rPr lang="en-IN" sz="2400" dirty="0" err="1"/>
              <a:t>Preprocessed</a:t>
            </a:r>
            <a:r>
              <a:rPr lang="en-IN" sz="2400" dirty="0"/>
              <a:t> social media datasets for analysis. 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Applied NLP techniques for text cleaning and sentiment analysis. 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Simulated: </a:t>
            </a:r>
          </a:p>
          <a:p>
            <a:pPr lvl="1" algn="just">
              <a:lnSpc>
                <a:spcPct val="100000"/>
              </a:lnSpc>
            </a:pPr>
            <a:r>
              <a:rPr lang="en-IN" dirty="0"/>
              <a:t>Engagement-based recommendation system </a:t>
            </a:r>
          </a:p>
          <a:p>
            <a:pPr lvl="1" algn="just">
              <a:lnSpc>
                <a:spcPct val="100000"/>
              </a:lnSpc>
            </a:pPr>
            <a:r>
              <a:rPr lang="en-IN" dirty="0"/>
              <a:t>Diversity-based recommendation system 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Calculated sentiment variance and average sentiment. 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Generated graphs and statistical visualizations using Matplotlib. </a:t>
            </a:r>
          </a:p>
          <a:p>
            <a:pPr algn="just"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373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B424-F71F-E3EE-6AA6-DCCC7E6F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" y="0"/>
            <a:ext cx="6174889" cy="914040"/>
          </a:xfrm>
        </p:spPr>
        <p:txBody>
          <a:bodyPr/>
          <a:lstStyle/>
          <a:p>
            <a:r>
              <a:rPr lang="en-IN" dirty="0"/>
              <a:t>Major Findings / Results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559913-CA0C-22F1-2BC7-5CE30DE7480D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72122" y="615131"/>
            <a:ext cx="8799756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engagement-based recommendation model showed higher sentiment variance, which indicates stronger user polarization and the formation of echo chambers.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under the engagement-based system were repeatedly exposed to similar viewpoints, reinforcing their existing beliefs and reducing exposure to diverse opinions.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diversity-based recommendation model produced lower sentiment variance, showing a more balanced distribution of opinions among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Exposure to different types of content in the diversity-aware system helped reduce ideological isolation and encouraged open-mindedness.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clearly shows that recommendation systems significantly influence user behavior, online interactions, and opinion formation on social media platforms.</a:t>
            </a:r>
          </a:p>
        </p:txBody>
      </p:sp>
    </p:spTree>
    <p:extLst>
      <p:ext uri="{BB962C8B-B14F-4D97-AF65-F5344CB8AC3E}">
        <p14:creationId xmlns:p14="http://schemas.microsoft.com/office/powerpoint/2010/main" val="235450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CBF9-8972-9646-902F-5287F6C6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AFC8BD-081D-6919-8C20-0EE3A555297F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23713" y="982176"/>
            <a:ext cx="889657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 significantly influence user opinions, online interactions, and information consumption.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Engagement-based recommendation systems improve user engagement but also increase echo chambers and ideological polarization.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exposed repeatedly to similar content are more likely to develop biased and narrow viewpoints.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Diversity-aware recommendation systems expose users to multiple perspectives and help reduce polarization.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balanced recommendation strategy is necessary to maintain both user engagement and information diversity on social media platforms.</a:t>
            </a:r>
          </a:p>
        </p:txBody>
      </p:sp>
    </p:spTree>
    <p:extLst>
      <p:ext uri="{BB962C8B-B14F-4D97-AF65-F5344CB8AC3E}">
        <p14:creationId xmlns:p14="http://schemas.microsoft.com/office/powerpoint/2010/main" val="1529540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3355-27FF-55C3-A506-D9A53BD2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98CBE-CD39-F1A8-7930-96619FD0278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5153" y="989704"/>
            <a:ext cx="8471287" cy="5540188"/>
          </a:xfrm>
        </p:spPr>
        <p:txBody>
          <a:bodyPr/>
          <a:lstStyle/>
          <a:p>
            <a:pPr algn="just"/>
            <a:r>
              <a:rPr lang="en-IN" sz="2400" dirty="0"/>
              <a:t>Larger and more diverse datasets can be used for better evaluation and analysis. </a:t>
            </a:r>
          </a:p>
          <a:p>
            <a:pPr algn="just"/>
            <a:r>
              <a:rPr lang="en-IN" sz="2400" dirty="0"/>
              <a:t>Advanced machine learning and deep learning models can improve recommendation accuracy. </a:t>
            </a:r>
          </a:p>
          <a:p>
            <a:pPr algn="just"/>
            <a:r>
              <a:rPr lang="en-IN" sz="2400" dirty="0"/>
              <a:t>Hybrid recommendation systems combining engagement and diversity can be developed. </a:t>
            </a:r>
          </a:p>
          <a:p>
            <a:pPr algn="just"/>
            <a:r>
              <a:rPr lang="en-IN" sz="2400" dirty="0"/>
              <a:t>Real-time recommendation simulations can be performed for more practical analysis. </a:t>
            </a:r>
          </a:p>
          <a:p>
            <a:pPr algn="just"/>
            <a:r>
              <a:rPr lang="en-IN" sz="2400" dirty="0"/>
              <a:t>Future research can focus on studying the long-term social and psychological effects of recommendation algorithms on users. 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303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4D80-FB32-7DFE-6396-4237D26E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E140B-2388-D028-2360-5FB19C0CCCE0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17350" y="914040"/>
            <a:ext cx="8509299" cy="594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YouTube Recommendations,” Proceedings of the 10th ACM Conference on Recommender Systems, pp. 191–198, 2016.</a:t>
            </a:r>
            <a:endParaRPr lang="en-IN" sz="1800" dirty="0"/>
          </a:p>
          <a:p>
            <a:pPr lvl="0"/>
            <a:r>
              <a:rPr lang="en-US" sz="1800" dirty="0"/>
              <a:t>E. </a:t>
            </a:r>
            <a:r>
              <a:rPr lang="en-US" sz="1800" dirty="0" err="1"/>
              <a:t>Bakshy</a:t>
            </a:r>
            <a:r>
              <a:rPr lang="en-US" sz="1800" dirty="0"/>
              <a:t>, S. Messing, and L. A. Adamic, “Exposure to ideologically diverse news and opinion on Facebook,” </a:t>
            </a:r>
            <a:r>
              <a:rPr lang="en-US" sz="1800" i="1" dirty="0"/>
              <a:t>Science</a:t>
            </a:r>
            <a:r>
              <a:rPr lang="en-US" sz="1800" dirty="0"/>
              <a:t>, vol. 348, no. 6239,</a:t>
            </a:r>
            <a:endParaRPr lang="en-IN" sz="1800" dirty="0"/>
          </a:p>
          <a:p>
            <a:pPr algn="just"/>
            <a:r>
              <a:rPr lang="en-US" sz="1800" dirty="0"/>
              <a:t>pp. 1130–1132, 2020.</a:t>
            </a:r>
            <a:endParaRPr lang="en-IN" sz="1800" dirty="0"/>
          </a:p>
          <a:p>
            <a:pPr lvl="0"/>
            <a:r>
              <a:rPr lang="en-US" sz="1800" dirty="0"/>
              <a:t>M. Cinelli </a:t>
            </a:r>
            <a:r>
              <a:rPr lang="en-US" sz="1800" i="1" dirty="0"/>
              <a:t>et al.</a:t>
            </a:r>
            <a:r>
              <a:rPr lang="en-US" sz="1800" dirty="0"/>
              <a:t>, “The echo chamber effect on social media,” </a:t>
            </a:r>
            <a:r>
              <a:rPr lang="en-US" sz="1800" i="1" dirty="0"/>
              <a:t>Proceed- </a:t>
            </a:r>
            <a:r>
              <a:rPr lang="en-US" sz="1800" i="1" dirty="0" err="1"/>
              <a:t>ings</a:t>
            </a:r>
            <a:r>
              <a:rPr lang="en-US" sz="1800" i="1" dirty="0"/>
              <a:t> of the National Academy of Sciences</a:t>
            </a:r>
            <a:r>
              <a:rPr lang="en-US" sz="1800" dirty="0"/>
              <a:t>, vol. 118, no. 9, 2021.</a:t>
            </a:r>
            <a:endParaRPr lang="en-IN" sz="1800" dirty="0"/>
          </a:p>
          <a:p>
            <a:pPr lvl="0"/>
            <a:r>
              <a:rPr lang="en-US" sz="1800" dirty="0"/>
              <a:t>M. H. Ribeiro </a:t>
            </a:r>
            <a:r>
              <a:rPr lang="en-US" sz="1800" i="1" dirty="0"/>
              <a:t>et al.</a:t>
            </a:r>
            <a:r>
              <a:rPr lang="en-US" sz="1800" dirty="0"/>
              <a:t>, “Auditing </a:t>
            </a:r>
            <a:r>
              <a:rPr lang="en-US" sz="1800" dirty="0" err="1"/>
              <a:t>radicalisation</a:t>
            </a:r>
            <a:r>
              <a:rPr lang="en-US" sz="1800" dirty="0"/>
              <a:t> pathways on YouTube,”</a:t>
            </a:r>
            <a:endParaRPr lang="en-IN" sz="1800" dirty="0"/>
          </a:p>
          <a:p>
            <a:r>
              <a:rPr lang="en-US" sz="1800" i="1" dirty="0"/>
              <a:t>Proceedings of the ACM Conference</a:t>
            </a:r>
            <a:r>
              <a:rPr lang="en-US" sz="1800" dirty="0"/>
              <a:t>, 2020.</a:t>
            </a:r>
            <a:endParaRPr lang="en-IN" sz="1800" dirty="0"/>
          </a:p>
          <a:p>
            <a:pPr lvl="0"/>
            <a:r>
              <a:rPr lang="en-US" sz="1800" dirty="0"/>
              <a:t>A. Guess, B. Nyhan, and J. Reifler, “Exposure to untrustworthy websites in the 2016 US election,” </a:t>
            </a:r>
            <a:r>
              <a:rPr lang="en-US" sz="1800" i="1" dirty="0"/>
              <a:t>Nature Human </a:t>
            </a:r>
            <a:r>
              <a:rPr lang="en-US" sz="1800" i="1" dirty="0" err="1"/>
              <a:t>Behaviour</a:t>
            </a:r>
            <a:r>
              <a:rPr lang="en-US" sz="1800" dirty="0"/>
              <a:t>, 2021.</a:t>
            </a:r>
            <a:endParaRPr lang="en-IN" sz="1800" dirty="0"/>
          </a:p>
          <a:p>
            <a:pPr lvl="0"/>
            <a:r>
              <a:rPr lang="en-US" sz="1800" dirty="0"/>
              <a:t>N. Helberger, K. Karppinen, and L. D’Acunto, “Exposure diversity as a design principle for recommender systems,” </a:t>
            </a:r>
            <a:r>
              <a:rPr lang="en-US" sz="1800" i="1" dirty="0"/>
              <a:t>Information, </a:t>
            </a:r>
            <a:r>
              <a:rPr lang="en-US" sz="1800" i="1" dirty="0" err="1"/>
              <a:t>Communica</a:t>
            </a:r>
            <a:r>
              <a:rPr lang="en-US" sz="1800" i="1" dirty="0"/>
              <a:t>- </a:t>
            </a:r>
            <a:r>
              <a:rPr lang="en-US" sz="1800" i="1" dirty="0" err="1"/>
              <a:t>tion</a:t>
            </a:r>
            <a:r>
              <a:rPr lang="en-US" sz="1800" i="1" dirty="0"/>
              <a:t> &amp; Society</a:t>
            </a:r>
            <a:r>
              <a:rPr lang="en-US" sz="1800" dirty="0"/>
              <a:t>, 2023.</a:t>
            </a:r>
            <a:endParaRPr lang="en-IN" sz="1800" dirty="0"/>
          </a:p>
          <a:p>
            <a:pPr lvl="0"/>
            <a:r>
              <a:rPr lang="en-US" sz="1800" dirty="0"/>
              <a:t>E. Bozdag and J. van den Hoven, “Breaking the filter bubble: democracy and design,” </a:t>
            </a:r>
            <a:r>
              <a:rPr lang="en-US" sz="1800" i="1" dirty="0"/>
              <a:t>Ethics and Information Technology</a:t>
            </a:r>
            <a:r>
              <a:rPr lang="en-US" sz="1800" dirty="0"/>
              <a:t>, 2022.</a:t>
            </a:r>
            <a:endParaRPr lang="en-IN" sz="1800" dirty="0"/>
          </a:p>
          <a:p>
            <a:pPr lvl="0"/>
            <a:r>
              <a:rPr lang="en-US" sz="1800" dirty="0"/>
              <a:t>J. Leskovec, A. Rajaraman, and J. D. Ullman, </a:t>
            </a:r>
            <a:r>
              <a:rPr lang="en-US" sz="1800" i="1" dirty="0"/>
              <a:t>Mining of Massive Datasets</a:t>
            </a:r>
            <a:r>
              <a:rPr lang="en-US" sz="1800" dirty="0"/>
              <a:t>. Cambridge University Press, 2021.</a:t>
            </a:r>
            <a:endParaRPr lang="en-IN" sz="18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36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34723</TotalTime>
  <Words>981</Words>
  <Application>Microsoft Macintosh PowerPoint</Application>
  <PresentationFormat>On-screen Show (4:3)</PresentationFormat>
  <Paragraphs>109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Introduction</vt:lpstr>
      <vt:lpstr>Objectives &amp; Scope</vt:lpstr>
      <vt:lpstr>Methodology</vt:lpstr>
      <vt:lpstr>Tools &amp; Technology</vt:lpstr>
      <vt:lpstr>Implementation</vt:lpstr>
      <vt:lpstr>Major Findings / Results</vt:lpstr>
      <vt:lpstr>Conclusion</vt:lpstr>
      <vt:lpstr> Future Scope</vt:lpstr>
      <vt:lpstr> 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Sarthak Malan</cp:lastModifiedBy>
  <cp:revision>2301</cp:revision>
  <dcterms:created xsi:type="dcterms:W3CDTF">2010-04-09T07:36:15Z</dcterms:created>
  <dcterms:modified xsi:type="dcterms:W3CDTF">2026-05-07T13:55:21Z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